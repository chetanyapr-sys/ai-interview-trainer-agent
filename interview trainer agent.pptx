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4142216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Chetanya </a:t>
                      </a:r>
                      <a:r>
                        <a:rPr lang="en-US" dirty="0" err="1"/>
                        <a:t>prakash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chetanyapr@gmail.com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8791189856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Education / Career Development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190120" y="551965"/>
            <a:ext cx="9581177" cy="461665"/>
          </a:xfrm>
          <a:prstGeom prst="rect">
            <a:avLst/>
          </a:prstGeom>
          <a:noFill/>
        </p:spPr>
        <p:txBody>
          <a:bodyPr wrap="square" rtlCol="0">
            <a:spAutoFit/>
          </a:bodyPr>
          <a:lstStyle/>
          <a:p>
            <a:r>
              <a:rPr lang="en-US" sz="2400" b="1" dirty="0"/>
              <a:t>Project Tile – </a:t>
            </a:r>
            <a:r>
              <a:rPr lang="en-IN" sz="2400" dirty="0"/>
              <a:t>AI-Powered Autonomous Interview Trainer Agent</a:t>
            </a:r>
            <a:endParaRPr lang="en-IN" sz="2400" b="1" dirty="0">
              <a:highlight>
                <a:srgbClr val="FFFF00"/>
              </a:highlight>
            </a:endParaRPr>
          </a:p>
        </p:txBody>
      </p:sp>
      <p:pic>
        <p:nvPicPr>
          <p:cNvPr id="2" name="Google Shape;98;p2">
            <a:extLst>
              <a:ext uri="{FF2B5EF4-FFF2-40B4-BE49-F238E27FC236}">
                <a16:creationId xmlns:a16="http://schemas.microsoft.com/office/drawing/2014/main" id="{8B2FD6C5-E78E-9105-BA73-EE97DDF28D86}"/>
              </a:ext>
            </a:extLst>
          </p:cNvPr>
          <p:cNvPicPr preferRelativeResize="0"/>
          <p:nvPr/>
        </p:nvPicPr>
        <p:blipFill>
          <a:blip r:embed="rId3">
            <a:alphaModFix/>
          </a:blip>
          <a:srcRect/>
          <a:stretch/>
        </p:blipFill>
        <p:spPr>
          <a:xfrm>
            <a:off x="4053024" y="3792732"/>
            <a:ext cx="762500" cy="6931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
        <p:nvSpPr>
          <p:cNvPr id="11" name="TextBox 10">
            <a:extLst>
              <a:ext uri="{FF2B5EF4-FFF2-40B4-BE49-F238E27FC236}">
                <a16:creationId xmlns:a16="http://schemas.microsoft.com/office/drawing/2014/main" id="{A0858DF0-79BA-CA2E-2447-4F4E2A90CAC0}"/>
              </a:ext>
            </a:extLst>
          </p:cNvPr>
          <p:cNvSpPr txBox="1"/>
          <p:nvPr/>
        </p:nvSpPr>
        <p:spPr>
          <a:xfrm>
            <a:off x="576072" y="1305768"/>
            <a:ext cx="11077448" cy="4401205"/>
          </a:xfrm>
          <a:prstGeom prst="rect">
            <a:avLst/>
          </a:prstGeom>
          <a:noFill/>
        </p:spPr>
        <p:txBody>
          <a:bodyPr wrap="square">
            <a:spAutoFit/>
          </a:bodyPr>
          <a:lstStyle/>
          <a:p>
            <a:pPr fontAlgn="base"/>
            <a:r>
              <a:rPr lang="en-US" b="1" dirty="0"/>
              <a:t>Problem Statement : </a:t>
            </a:r>
            <a:r>
              <a:rPr lang="en-IN" b="1" dirty="0"/>
              <a:t>Interview Trainer Agent</a:t>
            </a:r>
            <a:endParaRPr lang="en-US" b="1" dirty="0"/>
          </a:p>
          <a:p>
            <a:pPr fontAlgn="base"/>
            <a:endParaRPr lang="en-US" b="1" dirty="0"/>
          </a:p>
          <a:p>
            <a:pPr fontAlgn="base"/>
            <a:r>
              <a:rPr lang="en-US" b="1" dirty="0"/>
              <a:t>The Challenge</a:t>
            </a:r>
            <a:r>
              <a:rPr lang="en-US" dirty="0"/>
              <a:t> </a:t>
            </a:r>
          </a:p>
          <a:p>
            <a:pPr fontAlgn="base"/>
            <a:r>
              <a:rPr lang="en-IN" dirty="0"/>
              <a:t>Traditional mock interview platforms rely on static question sets that fail to adapt to a candidate's personal profile, experience layer, or target technical role. Engineering graduates face severe </a:t>
            </a:r>
            <a:r>
              <a:rPr lang="en-IN" b="1" dirty="0"/>
              <a:t>confidence gaps</a:t>
            </a:r>
            <a:r>
              <a:rPr lang="en-IN" dirty="0"/>
              <a:t> and poor hiring conversion rates because current prep tools lack localized feedback loops, </a:t>
            </a:r>
            <a:r>
              <a:rPr lang="en-IN" b="1" dirty="0"/>
              <a:t>domain-grounded context</a:t>
            </a:r>
            <a:r>
              <a:rPr lang="en-IN" dirty="0"/>
              <a:t>, and </a:t>
            </a:r>
            <a:r>
              <a:rPr lang="en-IN" dirty="0" err="1"/>
              <a:t>behavioral</a:t>
            </a:r>
            <a:r>
              <a:rPr lang="en-IN" dirty="0"/>
              <a:t> alignment matching enterprise hiring benchmarks. </a:t>
            </a:r>
          </a:p>
          <a:p>
            <a:pPr fontAlgn="base"/>
            <a:endParaRPr lang="en-US" dirty="0"/>
          </a:p>
          <a:p>
            <a:pPr fontAlgn="base"/>
            <a:r>
              <a:rPr lang="en-US" b="1" dirty="0"/>
              <a:t>The Objective</a:t>
            </a:r>
            <a:r>
              <a:rPr lang="en-US" dirty="0"/>
              <a:t> </a:t>
            </a:r>
          </a:p>
          <a:p>
            <a:pPr fontAlgn="base"/>
            <a:r>
              <a:rPr lang="en-IN" dirty="0"/>
              <a:t>Build an </a:t>
            </a:r>
            <a:r>
              <a:rPr lang="en-IN" b="1" dirty="0"/>
              <a:t>AI-powered Interview Trainer Agent</a:t>
            </a:r>
            <a:r>
              <a:rPr lang="en-IN" dirty="0"/>
              <a:t> that delivers </a:t>
            </a:r>
            <a:r>
              <a:rPr lang="en-IN" b="1" dirty="0"/>
              <a:t>personalized mock interviews and actionable guidance</a:t>
            </a:r>
            <a:r>
              <a:rPr lang="en-IN" dirty="0"/>
              <a:t> for students, job seekers, and career professionals. The solution should: </a:t>
            </a:r>
          </a:p>
          <a:p>
            <a:pPr marL="342900" lvl="1" indent="-342900" fontAlgn="base">
              <a:buFont typeface="+mj-lt"/>
              <a:buAutoNum type="alphaUcPeriod"/>
            </a:pPr>
            <a:r>
              <a:rPr lang="en-IN" b="1" dirty="0"/>
              <a:t>Tailored Question Generation</a:t>
            </a:r>
            <a:r>
              <a:rPr lang="en-IN" dirty="0"/>
              <a:t> – Recommend specific interview question sets based on profile name, experience level, technical stack, and target job role.</a:t>
            </a:r>
          </a:p>
          <a:p>
            <a:pPr marL="342900" lvl="1" indent="-342900" fontAlgn="base">
              <a:buFont typeface="+mj-lt"/>
              <a:buAutoNum type="alphaUcPeriod"/>
            </a:pPr>
            <a:r>
              <a:rPr lang="en-IN" b="1" dirty="0"/>
              <a:t>Recruitment Data RAG Retrieval</a:t>
            </a:r>
            <a:r>
              <a:rPr lang="en-IN" dirty="0"/>
              <a:t> – Fetch and summarize role-specific interview queries, </a:t>
            </a:r>
            <a:r>
              <a:rPr lang="en-IN" dirty="0" err="1"/>
              <a:t>behavioral</a:t>
            </a:r>
            <a:r>
              <a:rPr lang="en-IN" dirty="0"/>
              <a:t> scenarios, and HR guidelines from verified recruitment databases. </a:t>
            </a:r>
          </a:p>
          <a:p>
            <a:pPr marL="342900" lvl="1" indent="-342900" fontAlgn="base">
              <a:buFont typeface="+mj-lt"/>
              <a:buAutoNum type="alphaUcPeriod"/>
            </a:pPr>
            <a:r>
              <a:rPr lang="en-IN" b="1" dirty="0"/>
              <a:t>Real-Time Assessment &amp; Feedback</a:t>
            </a:r>
            <a:r>
              <a:rPr lang="en-IN" dirty="0"/>
              <a:t> – Provide instant evaluation metrics, model answers, and custom improvement tips for candidate responses. </a:t>
            </a:r>
          </a:p>
          <a:p>
            <a:pPr marL="342900" lvl="1" indent="-342900" fontAlgn="base">
              <a:buFont typeface="+mj-lt"/>
              <a:buAutoNum type="alphaUcPeriod"/>
            </a:pPr>
            <a:r>
              <a:rPr lang="en-IN" b="1" dirty="0"/>
              <a:t>Comprehensive Skill Focus</a:t>
            </a:r>
            <a:r>
              <a:rPr lang="en-IN" dirty="0"/>
              <a:t> – Conduct exhaustive assessments covering both deep technical concepts and essential soft skills.</a:t>
            </a:r>
          </a:p>
          <a:p>
            <a:pPr marL="342900" lvl="1" indent="-342900" fontAlgn="base">
              <a:buFont typeface="+mj-lt"/>
              <a:buAutoNum type="alphaUcPeriod"/>
            </a:pPr>
            <a:r>
              <a:rPr lang="en-IN" b="1" dirty="0"/>
              <a:t>Performance Visualization Dashboard</a:t>
            </a:r>
            <a:r>
              <a:rPr lang="en-IN" dirty="0"/>
              <a:t> – Show dynamic tracking metrics, category-wise skill proficiencies, and overall readiness for competitive hiring environments. </a:t>
            </a:r>
          </a:p>
          <a:p>
            <a:pPr fontAlgn="base"/>
            <a:endParaRPr lang="en-IN"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
        <p:nvSpPr>
          <p:cNvPr id="6" name="TextBox 5">
            <a:extLst>
              <a:ext uri="{FF2B5EF4-FFF2-40B4-BE49-F238E27FC236}">
                <a16:creationId xmlns:a16="http://schemas.microsoft.com/office/drawing/2014/main" id="{878C677C-7837-1A3D-793F-FC580A443FB2}"/>
              </a:ext>
            </a:extLst>
          </p:cNvPr>
          <p:cNvSpPr txBox="1"/>
          <p:nvPr/>
        </p:nvSpPr>
        <p:spPr>
          <a:xfrm>
            <a:off x="576072" y="1401505"/>
            <a:ext cx="10789920" cy="1991379"/>
          </a:xfrm>
          <a:prstGeom prst="rect">
            <a:avLst/>
          </a:prstGeom>
          <a:noFill/>
        </p:spPr>
        <p:txBody>
          <a:bodyPr wrap="square">
            <a:spAutoFit/>
          </a:bodyPr>
          <a:lstStyle/>
          <a:p>
            <a:pPr marL="342900" indent="-342900">
              <a:lnSpc>
                <a:spcPct val="150000"/>
              </a:lnSpc>
              <a:buFont typeface="+mj-lt"/>
              <a:buAutoNum type="alphaUcPeriod"/>
            </a:pPr>
            <a:r>
              <a:rPr lang="en-IN" b="1" dirty="0"/>
              <a:t>Orchestration Framework</a:t>
            </a:r>
            <a:r>
              <a:rPr lang="en-IN" dirty="0"/>
              <a:t>: </a:t>
            </a:r>
            <a:r>
              <a:rPr lang="en-IN" dirty="0" err="1"/>
              <a:t>Langflow</a:t>
            </a:r>
            <a:endParaRPr lang="en-IN" dirty="0"/>
          </a:p>
          <a:p>
            <a:pPr marL="342900" indent="-342900">
              <a:lnSpc>
                <a:spcPct val="150000"/>
              </a:lnSpc>
              <a:buFont typeface="+mj-lt"/>
              <a:buAutoNum type="alphaUcPeriod"/>
            </a:pPr>
            <a:r>
              <a:rPr lang="en-IN" b="1" dirty="0"/>
              <a:t>Enterprise AI Cloud Platform</a:t>
            </a:r>
            <a:r>
              <a:rPr lang="en-IN" dirty="0"/>
              <a:t>: IBM watsonx.ai Studio</a:t>
            </a:r>
          </a:p>
          <a:p>
            <a:pPr marL="342900" indent="-342900">
              <a:lnSpc>
                <a:spcPct val="150000"/>
              </a:lnSpc>
              <a:buFont typeface="+mj-lt"/>
              <a:buAutoNum type="alphaUcPeriod"/>
            </a:pPr>
            <a:r>
              <a:rPr lang="en-IN" b="1" dirty="0"/>
              <a:t>Foundation LLM Model</a:t>
            </a:r>
            <a:r>
              <a:rPr lang="en-IN" dirty="0"/>
              <a:t>: IBM Granite (</a:t>
            </a:r>
            <a:r>
              <a:rPr lang="en-IN" dirty="0" err="1"/>
              <a:t>ibm</a:t>
            </a:r>
            <a:r>
              <a:rPr lang="en-IN" dirty="0"/>
              <a:t>/granite-8b-code-instruct)</a:t>
            </a:r>
          </a:p>
          <a:p>
            <a:pPr marL="342900" indent="-342900">
              <a:lnSpc>
                <a:spcPct val="150000"/>
              </a:lnSpc>
              <a:buFont typeface="+mj-lt"/>
              <a:buAutoNum type="alphaUcPeriod"/>
            </a:pPr>
            <a:r>
              <a:rPr lang="en-IN" b="1" dirty="0"/>
              <a:t>Vector Database</a:t>
            </a:r>
            <a:r>
              <a:rPr lang="en-IN" dirty="0"/>
              <a:t>: Chroma DB</a:t>
            </a:r>
          </a:p>
          <a:p>
            <a:pPr marL="342900" indent="-342900">
              <a:lnSpc>
                <a:spcPct val="150000"/>
              </a:lnSpc>
              <a:buFont typeface="+mj-lt"/>
              <a:buAutoNum type="alphaUcPeriod"/>
            </a:pPr>
            <a:r>
              <a:rPr lang="en-IN" b="1" dirty="0"/>
              <a:t>Embedding Generator</a:t>
            </a:r>
            <a:r>
              <a:rPr lang="en-IN" dirty="0"/>
              <a:t>: IBM watsonx.ai Embeddings API</a:t>
            </a:r>
          </a:p>
          <a:p>
            <a:pPr marL="342900" indent="-342900">
              <a:lnSpc>
                <a:spcPct val="150000"/>
              </a:lnSpc>
              <a:buFont typeface="+mj-lt"/>
              <a:buAutoNum type="alphaUcPeriod"/>
            </a:pPr>
            <a:r>
              <a:rPr lang="en-IN" b="1" dirty="0"/>
              <a:t>Core Backend Environment</a:t>
            </a:r>
            <a:r>
              <a:rPr lang="en-IN" dirty="0"/>
              <a:t>: Python Ecosystem (Text Splitters &amp; Data Utilities)</a:t>
            </a: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
        <p:nvSpPr>
          <p:cNvPr id="8" name="TextBox 7">
            <a:extLst>
              <a:ext uri="{FF2B5EF4-FFF2-40B4-BE49-F238E27FC236}">
                <a16:creationId xmlns:a16="http://schemas.microsoft.com/office/drawing/2014/main" id="{1119413B-C299-2C7D-9759-1E3C152D4EEE}"/>
              </a:ext>
            </a:extLst>
          </p:cNvPr>
          <p:cNvSpPr txBox="1"/>
          <p:nvPr/>
        </p:nvSpPr>
        <p:spPr>
          <a:xfrm>
            <a:off x="576072" y="1228397"/>
            <a:ext cx="11341608" cy="4185761"/>
          </a:xfrm>
          <a:prstGeom prst="rect">
            <a:avLst/>
          </a:prstGeom>
          <a:noFill/>
        </p:spPr>
        <p:txBody>
          <a:bodyPr wrap="square">
            <a:spAutoFit/>
          </a:bodyPr>
          <a:lstStyle/>
          <a:p>
            <a:r>
              <a:rPr lang="en-US" b="1" dirty="0"/>
              <a:t>Proposed Solution: AI-Powered Interview Trainer Agent</a:t>
            </a:r>
          </a:p>
          <a:p>
            <a:r>
              <a:rPr lang="en-US" dirty="0"/>
              <a:t>The proposed solution is a multi-agent AI-powered Interview Trainer Agent built using </a:t>
            </a:r>
            <a:r>
              <a:rPr lang="en-US" dirty="0" err="1"/>
              <a:t>LangFlow</a:t>
            </a:r>
            <a:r>
              <a:rPr lang="en-US" dirty="0"/>
              <a:t>, IBM watsonx.ai, and Granite Models to provide personalized, real-time interview guidance. The system addresses challenges in interview preparation, technical profiling, and soft-skill development through an intelligent, modular architecture. </a:t>
            </a:r>
          </a:p>
          <a:p>
            <a:r>
              <a:rPr lang="en-US" dirty="0"/>
              <a:t>At its core, the solution uses a Retrieval-Augmented Generation (RAG) pipeline to fetch accurate behavioral rubrics and technical criteria from trusted sources such as recruitment databases, professional portals, and company interview logs. This data is embedded and stored in a vector database, enabling the system to retrieve and summarize structural interview frameworks using Granite models.</a:t>
            </a:r>
          </a:p>
          <a:p>
            <a:r>
              <a:rPr lang="en-US" dirty="0"/>
              <a:t>The system consists of four </a:t>
            </a:r>
            <a:r>
              <a:rPr lang="en-US" dirty="0" err="1"/>
              <a:t>keyagents</a:t>
            </a:r>
            <a:r>
              <a:rPr lang="en-US" dirty="0"/>
              <a:t>:</a:t>
            </a:r>
          </a:p>
          <a:p>
            <a:pPr marL="285750" indent="-285750">
              <a:buFont typeface="Wingdings" panose="05000000000000000000" pitchFamily="2" charset="2"/>
              <a:buChar char="§"/>
            </a:pPr>
            <a:r>
              <a:rPr lang="en-US" b="1" dirty="0"/>
              <a:t>Interview Knowledge Agent </a:t>
            </a:r>
            <a:r>
              <a:rPr lang="en-US" dirty="0"/>
              <a:t>retrieves and summarizes domain-specific technical parameters using RAG.</a:t>
            </a:r>
          </a:p>
          <a:p>
            <a:pPr marL="285750" indent="-285750">
              <a:buFont typeface="Wingdings" panose="05000000000000000000" pitchFamily="2" charset="2"/>
              <a:buChar char="§"/>
            </a:pPr>
            <a:r>
              <a:rPr lang="en-US" b="1" dirty="0"/>
              <a:t>Question Generation Agent </a:t>
            </a:r>
            <a:r>
              <a:rPr lang="en-US" dirty="0"/>
              <a:t>generates personalized mock interview questions based on user inputs such as profile name, experience level, and job role.</a:t>
            </a:r>
          </a:p>
          <a:p>
            <a:pPr marL="285750" indent="-285750">
              <a:buFont typeface="Wingdings" panose="05000000000000000000" pitchFamily="2" charset="2"/>
              <a:buChar char="§"/>
            </a:pPr>
            <a:r>
              <a:rPr lang="en-US" b="1" dirty="0"/>
              <a:t>Response Evaluation Agent </a:t>
            </a:r>
            <a:r>
              <a:rPr lang="en-US" dirty="0"/>
              <a:t>provides real-time assessment of technical and soft skill proficiency, including model answer mapping.</a:t>
            </a:r>
          </a:p>
          <a:p>
            <a:pPr marL="285750" indent="-285750">
              <a:buFont typeface="Wingdings" panose="05000000000000000000" pitchFamily="2" charset="2"/>
              <a:buChar char="§"/>
            </a:pPr>
            <a:r>
              <a:rPr lang="en-US" b="1" dirty="0"/>
              <a:t>Coaching &amp; Feedback </a:t>
            </a:r>
            <a:r>
              <a:rPr lang="en-US" dirty="0"/>
              <a:t>Agent delivers instant tactical metrics and actionable improvement tips to build user confidence</a:t>
            </a:r>
          </a:p>
          <a:p>
            <a:r>
              <a:rPr lang="en-US" dirty="0"/>
              <a:t>The solution includes a performance visualization dashboard (built with </a:t>
            </a:r>
            <a:r>
              <a:rPr lang="en-US" dirty="0" err="1"/>
              <a:t>Streamlit</a:t>
            </a:r>
            <a:r>
              <a:rPr lang="en-US" dirty="0"/>
              <a:t> or React) that visualizes interview progress, highlights structural skill deficiencies, and tracks readiness toward hiring goals. </a:t>
            </a:r>
            <a:r>
              <a:rPr lang="en-US" dirty="0" err="1"/>
              <a:t>LangFlow</a:t>
            </a:r>
            <a:r>
              <a:rPr lang="en-US" dirty="0"/>
              <a:t> is used to orchestrate agent workflows, while watsonx.ai ensures scalable model deployment, embeddings, and AI governance. Granite models power reasoning, summarization, and contextual evaluation.  </a:t>
            </a:r>
          </a:p>
          <a:p>
            <a:r>
              <a:rPr lang="en-US" dirty="0"/>
              <a:t>Overall, this solution delivers an end-to-end intelligent interview assistant that promotes career success through personalized insights, real-time feedback, and comprehensive interview preparation.</a:t>
            </a:r>
            <a:endParaRPr lang="en-IN"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1056902"/>
            <a:ext cx="10938606" cy="3108543"/>
          </a:xfrm>
          <a:prstGeom prst="rect">
            <a:avLst/>
          </a:prstGeom>
          <a:noFill/>
        </p:spPr>
        <p:txBody>
          <a:bodyPr wrap="square" rtlCol="0">
            <a:spAutoFit/>
          </a:bodyPr>
          <a:lstStyle/>
          <a:p>
            <a:pPr marL="342900" indent="-342900">
              <a:buAutoNum type="arabicParenR"/>
            </a:pPr>
            <a:r>
              <a:rPr lang="en-IN" b="1" dirty="0"/>
              <a:t>Chat Input </a:t>
            </a:r>
            <a:r>
              <a:rPr lang="en-IN" dirty="0"/>
              <a:t>– Interface where users enter their target job roles, profile details, and interactive conversational answers during the mock session.</a:t>
            </a:r>
          </a:p>
          <a:p>
            <a:pPr marL="342900" indent="-342900">
              <a:buAutoNum type="arabicParenR"/>
            </a:pPr>
            <a:r>
              <a:rPr lang="en-IN" b="1" dirty="0"/>
              <a:t>IBM </a:t>
            </a:r>
            <a:r>
              <a:rPr lang="en-IN" b="1" dirty="0" err="1"/>
              <a:t>watsonx</a:t>
            </a:r>
            <a:r>
              <a:rPr lang="en-IN" b="1" dirty="0"/>
              <a:t> AI Agent </a:t>
            </a:r>
            <a:r>
              <a:rPr lang="en-IN" dirty="0"/>
              <a:t>- Processes candidate inputs using Granite models to orchestrate the multi-turn technical interview loop, generating structured situational evaluations.  </a:t>
            </a:r>
          </a:p>
          <a:p>
            <a:pPr marL="342900" indent="-342900">
              <a:buAutoNum type="arabicParenR"/>
            </a:pPr>
            <a:r>
              <a:rPr lang="en-IN" b="1" dirty="0"/>
              <a:t>Name of IBM Granite model </a:t>
            </a:r>
            <a:r>
              <a:rPr lang="en-IN" dirty="0"/>
              <a:t>- </a:t>
            </a:r>
            <a:r>
              <a:rPr lang="en-IN" dirty="0" err="1"/>
              <a:t>ibm</a:t>
            </a:r>
            <a:r>
              <a:rPr lang="en-IN" dirty="0"/>
              <a:t>/granite-8b-code-instruct $\</a:t>
            </a:r>
            <a:r>
              <a:rPr lang="en-IN" dirty="0" err="1"/>
              <a:t>rightarrow</a:t>
            </a:r>
            <a:r>
              <a:rPr lang="en-IN" dirty="0"/>
              <a:t>$ Enterprise-grade model deployed for dynamic code parsing, stateful logical reasoning, and objective answer evaluation.</a:t>
            </a:r>
          </a:p>
          <a:p>
            <a:pPr marL="342900" indent="-342900">
              <a:buAutoNum type="arabicParenR"/>
            </a:pPr>
            <a:r>
              <a:rPr lang="en-IN" b="1" dirty="0"/>
              <a:t>Chat output </a:t>
            </a:r>
            <a:r>
              <a:rPr lang="en-IN" dirty="0"/>
              <a:t>- Displays AI-generated output streams including technical question loops, grading responses, model answers, and constructive feedback dashboards.</a:t>
            </a:r>
          </a:p>
          <a:p>
            <a:pPr marL="342900" indent="-342900">
              <a:buAutoNum type="arabicParenR"/>
            </a:pPr>
            <a:r>
              <a:rPr lang="en-IN" b="1" dirty="0"/>
              <a:t>File component </a:t>
            </a:r>
            <a:r>
              <a:rPr lang="en-IN" dirty="0"/>
              <a:t>- Ingests the localized structured query database (interview_qa_dataset.csv) and technical rubrics directly into the runtime pipeline. </a:t>
            </a:r>
          </a:p>
          <a:p>
            <a:pPr marL="342900" indent="-342900">
              <a:buAutoNum type="arabicParenR"/>
            </a:pPr>
            <a:r>
              <a:rPr lang="en-IN" b="1" dirty="0"/>
              <a:t>Chroma DB (Vector DB) </a:t>
            </a:r>
            <a:r>
              <a:rPr lang="en-IN" dirty="0"/>
              <a:t>- Functions as the high-speed semantic storage unit that indexes text splits and coordinates fast cosine-similarity search lookups for the RAG loop.</a:t>
            </a:r>
          </a:p>
          <a:p>
            <a:pPr marL="342900" indent="-342900">
              <a:buAutoNum type="arabicParenR"/>
            </a:pPr>
            <a:r>
              <a:rPr lang="en-IN" b="1" dirty="0"/>
              <a:t>Split Text &amp; Stringify Nodes </a:t>
            </a:r>
            <a:r>
              <a:rPr lang="en-IN" dirty="0"/>
              <a:t>- Parses extensive dataset blocks into exact windows (Chunk Size: 1000, Overlap: 200) and formats multi-agent data payloads into clean textual inputs.</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18BA72A1-022E-20D4-50E9-772C4FF50FC9}"/>
              </a:ext>
            </a:extLst>
          </p:cNvPr>
          <p:cNvPicPr>
            <a:picLocks noChangeAspect="1"/>
          </p:cNvPicPr>
          <p:nvPr/>
        </p:nvPicPr>
        <p:blipFill>
          <a:blip r:embed="rId3"/>
          <a:stretch>
            <a:fillRect/>
          </a:stretch>
        </p:blipFill>
        <p:spPr>
          <a:xfrm>
            <a:off x="537590" y="1175050"/>
            <a:ext cx="11366091" cy="594410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4088FB0D-B3B1-0D68-4FA7-09F303E2DF44}"/>
              </a:ext>
            </a:extLst>
          </p:cNvPr>
          <p:cNvPicPr>
            <a:picLocks noChangeAspect="1"/>
          </p:cNvPicPr>
          <p:nvPr/>
        </p:nvPicPr>
        <p:blipFill>
          <a:blip r:embed="rId3"/>
          <a:stretch>
            <a:fillRect/>
          </a:stretch>
        </p:blipFill>
        <p:spPr>
          <a:xfrm>
            <a:off x="858730" y="1110306"/>
            <a:ext cx="10474539" cy="57476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US" b="1" dirty="0"/>
              <a:t>Role of Agentic AI in Interview Trainer Agent</a:t>
            </a:r>
          </a:p>
          <a:p>
            <a:r>
              <a:rPr lang="en-US" dirty="0"/>
              <a:t>Agentic AI enables the Interview Trainer Agent to function as an intelligent, autonomous system rather than a simple chatbot. Using IBM watsonx.ai and IBM Granite models, it coordinates multiple specialized agents to deliver personalized mock interviews and evaluation guidance. Each agent performs a specific role—such as retrieving recruitment criteria, generating tailored question sets, providing real-time evaluation, and coaching candidates—while working collaboratively. This multi-agent approach ensures efficient task execution and highly accurate results.  </a:t>
            </a:r>
          </a:p>
          <a:p>
            <a:r>
              <a:rPr lang="en-US" dirty="0"/>
              <a:t>Agentic AI also brings context awareness, understanding user details like profile names, target tech stacks, and experience levels to generate tailored interview loops. It supports real-time adaptation, continuously updating follow-up questions and cross-questioning based on the user's previous answers. Additionally, agents communicate with each other, enabling better decision-making, strict verification, and improved preparation outcomes.  Overall, Agentic AI makes the system proactive, personalized, and goal-driven, acting like a smart digital tech interviewer that helps users excel in competitive hiring loops.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284041"/>
          </a:xfrm>
          <a:prstGeom prst="rect">
            <a:avLst/>
          </a:prstGeom>
          <a:noFill/>
        </p:spPr>
        <p:txBody>
          <a:bodyPr wrap="square" rtlCol="0">
            <a:spAutoFit/>
          </a:bodyPr>
          <a:lstStyle/>
          <a:p>
            <a:pPr marL="342900" indent="-342900">
              <a:lnSpc>
                <a:spcPct val="150000"/>
              </a:lnSpc>
              <a:buFont typeface="+mj-lt"/>
              <a:buAutoNum type="arabicPeriod"/>
            </a:pPr>
            <a:r>
              <a:rPr lang="en-IN" b="1" dirty="0" err="1"/>
              <a:t>Langflow</a:t>
            </a:r>
            <a:r>
              <a:rPr lang="en-IN" b="1" dirty="0"/>
              <a:t> platform </a:t>
            </a:r>
            <a:r>
              <a:rPr lang="en-IN" dirty="0"/>
              <a:t>- For designing and orchestrating multi-agent interview loops and workflow pipelines visually.</a:t>
            </a:r>
          </a:p>
          <a:p>
            <a:pPr marL="342900" indent="-342900">
              <a:lnSpc>
                <a:spcPct val="150000"/>
              </a:lnSpc>
              <a:buFont typeface="+mj-lt"/>
              <a:buAutoNum type="arabicPeriod"/>
            </a:pPr>
            <a:r>
              <a:rPr lang="en-IN" b="1" dirty="0"/>
              <a:t>IBM Granite model </a:t>
            </a:r>
            <a:r>
              <a:rPr lang="en-IN" dirty="0"/>
              <a:t>- For example: </a:t>
            </a:r>
            <a:r>
              <a:rPr lang="en-IN" dirty="0" err="1"/>
              <a:t>ibm</a:t>
            </a:r>
            <a:r>
              <a:rPr lang="en-IN" dirty="0"/>
              <a:t>/granite-8b-code-instruct – For context understanding, logical evaluation, adaptive code-based reasoning, and deep response validation.</a:t>
            </a:r>
          </a:p>
          <a:p>
            <a:pPr marL="342900" indent="-342900">
              <a:lnSpc>
                <a:spcPct val="150000"/>
              </a:lnSpc>
              <a:buFont typeface="+mj-lt"/>
              <a:buAutoNum type="arabicPeriod"/>
            </a:pPr>
            <a:r>
              <a:rPr lang="en-IN" b="1" dirty="0"/>
              <a:t>IBM Cloud </a:t>
            </a:r>
            <a:r>
              <a:rPr lang="en-IN" dirty="0"/>
              <a:t>- It provides the infrastructure to host, manage, and scale the application securely. IBM Cloud enables a reliable, secure, and scalable environment for executing AI tokens.</a:t>
            </a:r>
          </a:p>
          <a:p>
            <a:pPr marL="342900" indent="-342900">
              <a:lnSpc>
                <a:spcPct val="150000"/>
              </a:lnSpc>
              <a:buFont typeface="+mj-lt"/>
              <a:buAutoNum type="arabicPeriod"/>
            </a:pPr>
            <a:r>
              <a:rPr lang="en-IN" b="1" dirty="0"/>
              <a:t>RAG (Retrieval-Augmented Generation) </a:t>
            </a:r>
            <a:r>
              <a:rPr lang="en-IN" dirty="0"/>
              <a:t>- Implemented to fetch structured recruitment rubrics first, then generate intelligent answers, making the evaluation benchmarks trustworthy and accurate.</a:t>
            </a:r>
          </a:p>
          <a:p>
            <a:pPr marL="342900" indent="-342900">
              <a:lnSpc>
                <a:spcPct val="150000"/>
              </a:lnSpc>
              <a:buFont typeface="+mj-lt"/>
              <a:buAutoNum type="arabicPeriod"/>
            </a:pPr>
            <a:r>
              <a:rPr lang="en-IN" b="1" dirty="0"/>
              <a:t>IBM watsonx.ai</a:t>
            </a:r>
            <a:r>
              <a:rPr lang="en-IN" dirty="0"/>
              <a:t> - For foundation model access, dense vector embeddings generation, and strict AI governance.</a:t>
            </a:r>
          </a:p>
          <a:p>
            <a:pPr marL="342900" indent="-342900">
              <a:lnSpc>
                <a:spcPct val="150000"/>
              </a:lnSpc>
              <a:buFont typeface="+mj-lt"/>
              <a:buAutoNum type="arabicPeriod"/>
            </a:pPr>
            <a:r>
              <a:rPr lang="en-IN" b="1" dirty="0"/>
              <a:t>Vector Database (Chroma)</a:t>
            </a:r>
            <a:r>
              <a:rPr lang="en-IN" dirty="0"/>
              <a:t> - For fast RAG-based context retrieval and cosine-similarity searches of technical domain question sets.</a:t>
            </a:r>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970318"/>
          </a:xfrm>
          <a:prstGeom prst="rect">
            <a:avLst/>
          </a:prstGeom>
          <a:noFill/>
        </p:spPr>
        <p:txBody>
          <a:bodyPr wrap="square" rtlCol="0">
            <a:spAutoFit/>
          </a:bodyPr>
          <a:lstStyle/>
          <a:p>
            <a:r>
              <a:rPr lang="en-US" dirty="0"/>
              <a:t>The proposed Interview Trainer Agent stands out by combining </a:t>
            </a:r>
            <a:r>
              <a:rPr lang="en-US" b="1" dirty="0"/>
              <a:t>Agentic AI, RAG, and personalization </a:t>
            </a:r>
            <a:r>
              <a:rPr lang="en-US" dirty="0"/>
              <a:t>into a single intelligent system.</a:t>
            </a:r>
          </a:p>
          <a:p>
            <a:endParaRPr lang="en-US" dirty="0"/>
          </a:p>
          <a:p>
            <a:r>
              <a:rPr lang="en-US" b="1" dirty="0"/>
              <a:t>Multi-Agent Intelligence </a:t>
            </a:r>
            <a:r>
              <a:rPr lang="en-US" dirty="0"/>
              <a:t>– Instead of a single static chatbot, multiple specialized agents (Knowledge, Question, Evaluation, and Coaching) collaborate to deliver accurate and context-aware mock interviews.</a:t>
            </a:r>
          </a:p>
          <a:p>
            <a:r>
              <a:rPr lang="en-US" b="1" dirty="0"/>
              <a:t>RAG-Based Accuracy </a:t>
            </a:r>
            <a:r>
              <a:rPr lang="en-US" dirty="0"/>
              <a:t>– Integrates real-time retrieval of hiring criteria with AI generation, reducing generic responses and ensuring trustworthy, industry-aligned evaluation benchmarks.</a:t>
            </a:r>
          </a:p>
          <a:p>
            <a:r>
              <a:rPr lang="en-US" b="1" dirty="0"/>
              <a:t>Hyper-Personalization</a:t>
            </a:r>
            <a:r>
              <a:rPr lang="en-US" dirty="0"/>
              <a:t> – Tailors technical question sets and difficulty scaling based on the user's specific target job role, technical stack, and experience level.</a:t>
            </a:r>
          </a:p>
          <a:p>
            <a:r>
              <a:rPr lang="en-US" b="1" dirty="0"/>
              <a:t>Real-Time Feedback Loop </a:t>
            </a:r>
            <a:r>
              <a:rPr lang="en-US" dirty="0"/>
              <a:t>– Continuously adapts the flow of cross-questioning based on previous user responses and delivers instant evaluation metrics with model answers.</a:t>
            </a:r>
          </a:p>
          <a:p>
            <a:r>
              <a:rPr lang="en-US" b="1" dirty="0"/>
              <a:t>Multi-Modal Assessment </a:t>
            </a:r>
            <a:r>
              <a:rPr lang="en-US" dirty="0"/>
              <a:t>– Supports dynamic text-based dialog exchanges and structures structural logic processing paths for deep-dive skill assessment.</a:t>
            </a:r>
          </a:p>
          <a:p>
            <a:r>
              <a:rPr lang="en-US" b="1" dirty="0"/>
              <a:t>Comprehensive Skill Focus </a:t>
            </a:r>
            <a:r>
              <a:rPr lang="en-US" dirty="0"/>
              <a:t>– Goes beyond standard technical testing to provide contextual analysis covering both complex programming frameworks and critical soft skills.</a:t>
            </a:r>
          </a:p>
          <a:p>
            <a:r>
              <a:rPr lang="en-US" b="1" dirty="0"/>
              <a:t>Scalable &amp; Enterprise-Ready </a:t>
            </a:r>
            <a:r>
              <a:rPr lang="en-US" dirty="0"/>
              <a:t>– Built on IBM watsonx.ai with IBM Granite models, ensuring extreme processing reliability and optimal data governance.</a:t>
            </a:r>
          </a:p>
          <a:p>
            <a:endParaRPr lang="en-US" dirty="0"/>
          </a:p>
          <a:p>
            <a:r>
              <a:rPr lang="en-US" dirty="0"/>
              <a:t>This makes the solution a smart, adaptive, and proactive digital tech interviewer, not just a static question recommendation tool.</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–https://github.com/chetanyapr-sys/AI-Interview-Trainer-Agent/blob/main/README.md</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5F594837-5ED3-2D70-494D-BC764A6BDB31}"/>
              </a:ext>
            </a:extLst>
          </p:cNvPr>
          <p:cNvSpPr txBox="1"/>
          <p:nvPr/>
        </p:nvSpPr>
        <p:spPr>
          <a:xfrm>
            <a:off x="1218724" y="1221715"/>
            <a:ext cx="9754552" cy="2031325"/>
          </a:xfrm>
          <a:prstGeom prst="rect">
            <a:avLst/>
          </a:prstGeom>
          <a:noFill/>
        </p:spPr>
        <p:txBody>
          <a:bodyPr wrap="square">
            <a:spAutoFit/>
          </a:bodyPr>
          <a:lstStyle/>
          <a:p>
            <a:pPr marL="342900" indent="-342900">
              <a:buAutoNum type="arabicPeriod"/>
            </a:pPr>
            <a:r>
              <a:rPr lang="en-US" b="1" dirty="0"/>
              <a:t>Integration with Native Speech-to-Text &amp; Communication Channels </a:t>
            </a:r>
            <a:r>
              <a:rPr lang="en-US" dirty="0"/>
              <a:t>–The system can be integrated with real-time voice modules and popular communication platforms to collect audio datasets such as tone variations, communication pacing, and verbal hesitation patterns. This will enable the Interview Trainer Agent to provide more accurate and dynamic soft-skill recommendations based on actual vocal parameters and confidence metrics.</a:t>
            </a:r>
          </a:p>
          <a:p>
            <a:pPr marL="342900" indent="-342900">
              <a:buAutoNum type="arabicPeriod"/>
            </a:pPr>
            <a:endParaRPr lang="en-US" dirty="0"/>
          </a:p>
          <a:p>
            <a:pPr marL="342900" indent="-342900">
              <a:buAutoNum type="arabicPeriod"/>
            </a:pPr>
            <a:r>
              <a:rPr lang="en-US" b="1" dirty="0"/>
              <a:t>AI-Powered Resume Parsing &amp; Multilingual Support</a:t>
            </a:r>
            <a:r>
              <a:rPr lang="en-US" dirty="0"/>
              <a:t> –Enhancing the system with automated candidate PDF parsing and support for multiple regional or international coding instructions will improve accessibility. Users can interact naturally and analyze custom resume pipelines in their preferred environment, making the solution more inclusive and suitable for diverse engineering candidates, especially in domains with varied tech-stack backgrounds.</a:t>
            </a:r>
            <a:endParaRPr lang="en-IN" dirty="0"/>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1303</TotalTime>
  <Words>1522</Words>
  <Application>Microsoft Office PowerPoint</Application>
  <PresentationFormat>Widescreen</PresentationFormat>
  <Paragraphs>88</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Chetanya Prakash</cp:lastModifiedBy>
  <cp:revision>23</cp:revision>
  <dcterms:created xsi:type="dcterms:W3CDTF">2025-07-08T05:06:56Z</dcterms:created>
  <dcterms:modified xsi:type="dcterms:W3CDTF">2026-05-27T10:23:59Z</dcterms:modified>
</cp:coreProperties>
</file>